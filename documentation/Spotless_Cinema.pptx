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7" r:id="rId6"/>
    <p:sldId id="258" r:id="rId7"/>
    <p:sldId id="259" r:id="rId8"/>
    <p:sldId id="262" r:id="rId9"/>
    <p:sldId id="260" r:id="rId10"/>
    <p:sldId id="261" r:id="rId11"/>
    <p:sldId id="268" r:id="rId12"/>
    <p:sldId id="263" r:id="rId13"/>
    <p:sldId id="269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6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245" dt="2026-10-14T17:42:47.557"/>
    <p1510:client id="{06DE8C75-00DE-1AEB-D561-CF324441A2A8}" v="739" dt="2026-10-14T12:23:54.834"/>
    <p1510:client id="{06F0640F-3269-CDB3-6614-414EE9B4208E}" v="142" dt="2026-10-14T17:12:00.467"/>
    <p1510:client id="{2442E3B7-C408-42C8-9906-C7B161A75243}" v="37" dt="2026-10-13T12:11:04.733"/>
    <p1510:client id="{4D888E28-D3EE-3918-034F-417B6BD288BC}" v="307" dt="2026-10-13T12:13:46.571"/>
    <p1510:client id="{605D11F2-6C71-404B-D167-AE460F56A2A6}" v="5" dt="2026-10-14T13:54:41.329"/>
    <p1510:client id="{B391B43C-87A5-EEEB-8D82-CF0454C75A66}" v="151" dt="2026-10-14T05:28:40.355"/>
    <p1510:client id="{CD4F5BD8-09E3-1A88-B664-D1E5F9938A4B}" v="511" dt="2026-10-14T17:35:47.139"/>
    <p1510:client id="{F8AE9DF9-8F07-0BF6-C7EC-9361B8435AF0}" v="134" dt="2026-10-14T17:39:47.8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E726FAB-67BA-420D-9850-0CA4C625D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8C2CB58-74E0-465F-A812-B5E1EFE030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7F87C3D6-0C57-4C00-A5DC-3892EA6B6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EF5660A-9322-4215-A80E-B1CD913E7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6D4D30CC-1BD5-41F5-AF4C-5CE280F1D6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A30F3BB-A59B-4D88-8806-CB377F20B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146C2E4-F292-4C4D-8DFA-092B7128E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155027F-9E36-47EA-B3C2-F5B4A7A6476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49193B6-09A4-40B3-9754-6871CB0D2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C40D94A-154F-4503-A5A1-D0FE1D693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0E577D50-29A7-46AE-A06E-CA8AB65F55B4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4500" b="1">
                <a:solidFill>
                  <a:srgbClr val="F7F6F2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4500" b="1">
                <a:solidFill>
                  <a:srgbClr val="F7F6F2"/>
                </a:solidFill>
                <a:latin typeface="Nimbus Sans"/>
                <a:ea typeface="Nimbus Sans"/>
                <a:cs typeface="Nimbus Sans"/>
              </a:defRPr>
            </a:pPr>
            <a:r>
              <a:rPr sz="4500" b="1">
                <a:solidFill>
                  <a:srgbClr val="F7F6F2"/>
                </a:solidFill>
                <a:latin typeface="Nimbus Sans"/>
                <a:ea typeface="Nimbus Sans"/>
                <a:cs typeface="Nimbus Sans"/>
              </a:rPr>
              <a:t>Spotless Cinema</a:t>
            </a:r>
          </a:p>
        </p:txBody>
      </p:sp>
      <p:sp>
        <p:nvSpPr>
          <p:cNvPr id="2" name="project-type">
            <a:extLst>
              <a:ext uri="{FF2B5EF4-FFF2-40B4-BE49-F238E27FC236}">
                <a16:creationId xmlns:a16="http://schemas.microsoft.com/office/drawing/2014/main" id="{8E4C09BE-CD6F-4D2E-8727-A396EF837091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820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75" b="0">
                <a:solidFill>
                  <a:srgbClr val="F7F6F2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2775" b="0">
                <a:solidFill>
                  <a:srgbClr val="F7F6F2"/>
                </a:solidFill>
                <a:latin typeface="Nimbus Sans"/>
                <a:ea typeface="Nimbus Sans"/>
                <a:cs typeface="Nimbus Sans"/>
              </a:defRPr>
            </a:pPr>
            <a:r>
              <a:rPr sz="2775" b="0">
                <a:solidFill>
                  <a:srgbClr val="F7F6F2"/>
                </a:solidFill>
                <a:latin typeface="Nimbus Sans"/>
                <a:ea typeface="Nimbus Sans"/>
                <a:cs typeface="Nimbus Sans"/>
              </a:rPr>
              <a:t>Web application project</a:t>
            </a:r>
          </a:p>
        </p:txBody>
      </p:sp>
      <p:sp>
        <p:nvSpPr>
          <p:cNvPr id="3" name="team">
            <a:extLst>
              <a:ext uri="{FF2B5EF4-FFF2-40B4-BE49-F238E27FC236}">
                <a16:creationId xmlns:a16="http://schemas.microsoft.com/office/drawing/2014/main" id="{99A11487-E73A-48D7-84D1-E7DD9BC4764A}"/>
              </a:ext>
            </a:extLst>
          </p:cNvPr>
          <p:cNvSpPr>
            <a:spLocks noGrp="1"/>
          </p:cNvSpPr>
          <p:nvPr/>
        </p:nvSpPr>
        <p:spPr>
          <a:xfrm>
            <a:off x="685800" y="2905125"/>
            <a:ext cx="108204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00" b="0">
                <a:solidFill>
                  <a:srgbClr val="F7F6F2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2400" b="0">
                <a:solidFill>
                  <a:srgbClr val="F7F6F2"/>
                </a:solidFill>
                <a:latin typeface="Nimbus Sans"/>
                <a:ea typeface="Nimbus Sans"/>
                <a:cs typeface="Nimbus Sans"/>
              </a:defRPr>
            </a:pPr>
            <a:r>
              <a:rPr sz="2400" b="0">
                <a:solidFill>
                  <a:srgbClr val="F7F6F2"/>
                </a:solidFill>
                <a:latin typeface="Nimbus Sans"/>
                <a:ea typeface="Nimbus Sans"/>
                <a:cs typeface="Nimbus Sans"/>
              </a:rPr>
              <a:t>Group 5</a:t>
            </a:r>
          </a:p>
        </p:txBody>
      </p:sp>
      <p:sp>
        <p:nvSpPr>
          <p:cNvPr id="4" name="names">
            <a:extLst>
              <a:ext uri="{FF2B5EF4-FFF2-40B4-BE49-F238E27FC236}">
                <a16:creationId xmlns:a16="http://schemas.microsoft.com/office/drawing/2014/main" id="{D90A15F8-D013-43FE-AD9E-078855337CA6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325" b="0">
                <a:solidFill>
                  <a:srgbClr val="F7F6F2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2325" b="0">
                <a:solidFill>
                  <a:srgbClr val="F7F6F2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F7F6F2"/>
                </a:solidFill>
                <a:latin typeface="Nimbus Sans"/>
                <a:ea typeface="Nimbus Sans"/>
                <a:cs typeface="Nimbus Sans"/>
              </a:rPr>
              <a:t>Niko Lindqvist, </a:t>
            </a:r>
            <a:r>
              <a:rPr lang="fi-FI" sz="2325">
                <a:solidFill>
                  <a:srgbClr val="F7F6F2"/>
                </a:solidFill>
                <a:latin typeface="Nimbus Sans"/>
                <a:ea typeface="Nimbus Sans"/>
                <a:cs typeface="Nimbus Sans"/>
              </a:rPr>
              <a:t>Milja </a:t>
            </a:r>
            <a:r>
              <a:rPr lang="fi-FI" sz="2325" err="1">
                <a:solidFill>
                  <a:srgbClr val="F7F6F2"/>
                </a:solidFill>
                <a:latin typeface="Nimbus Sans"/>
                <a:ea typeface="Nimbus Sans"/>
                <a:cs typeface="Nimbus Sans"/>
              </a:rPr>
              <a:t>Tissari</a:t>
            </a:r>
            <a:r>
              <a:rPr lang="fi-FI" sz="2325">
                <a:solidFill>
                  <a:srgbClr val="F7F6F2"/>
                </a:solidFill>
                <a:latin typeface="Nimbus Sans"/>
                <a:ea typeface="Nimbus Sans"/>
                <a:cs typeface="Nimbus Sans"/>
              </a:rPr>
              <a:t>, </a:t>
            </a:r>
            <a:r>
              <a:rPr lang="fi-FI" sz="2325">
                <a:solidFill>
                  <a:srgbClr val="F7F6F2"/>
                </a:solidFill>
                <a:latin typeface="Nimbus Sans"/>
              </a:rPr>
              <a:t>Ville Korkeaniemi, Tomi Koskinen, Toni </a:t>
            </a:r>
            <a:r>
              <a:rPr lang="fi-FI" sz="2325" err="1">
                <a:solidFill>
                  <a:srgbClr val="F7F6F2"/>
                </a:solidFill>
                <a:latin typeface="Nimbus Sans"/>
              </a:rPr>
              <a:t>Palmén</a:t>
            </a:r>
            <a:r>
              <a:rPr lang="fi-FI" sz="2325">
                <a:solidFill>
                  <a:srgbClr val="F7F6F2"/>
                </a:solidFill>
                <a:latin typeface="Nimbus Sans"/>
                <a:ea typeface="Nimbus Sans"/>
                <a:cs typeface="Nimbus Sans"/>
              </a:rPr>
              <a:t> </a:t>
            </a:r>
            <a:endParaRPr sz="2325" b="0">
              <a:solidFill>
                <a:srgbClr val="F7F6F2"/>
              </a:solidFill>
              <a:latin typeface="Nimbus Sans"/>
              <a:ea typeface="Nimbus Sans"/>
              <a:cs typeface="Nimbus Sans"/>
            </a:endParaRPr>
          </a:p>
        </p:txBody>
      </p:sp>
    </p:spTree>
    <p:extLst>
      <p:ext uri="{BB962C8B-B14F-4D97-AF65-F5344CB8AC3E}">
        <p14:creationId xmlns:p14="http://schemas.microsoft.com/office/powerpoint/2010/main" val="1228998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-title">
            <a:extLst>
              <a:ext uri="{FF2B5EF4-FFF2-40B4-BE49-F238E27FC236}">
                <a16:creationId xmlns:a16="http://schemas.microsoft.com/office/drawing/2014/main" id="{BA0FA921-8335-49AB-976C-C2373082F961}"/>
              </a:ext>
            </a:extLst>
          </p:cNvPr>
          <p:cNvSpPr>
            <a:spLocks noGrp="1"/>
          </p:cNvSpPr>
          <p:nvPr/>
        </p:nvSpPr>
        <p:spPr>
          <a:xfrm>
            <a:off x="767080" y="476250"/>
            <a:ext cx="108204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450" b="1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3450" b="1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71717"/>
                </a:solidFill>
                <a:latin typeface="Nimbus Sans"/>
                <a:ea typeface="Nimbus Sans"/>
                <a:cs typeface="Nimbus Sans"/>
              </a:rPr>
              <a:t>Our team and roles</a:t>
            </a:r>
          </a:p>
        </p:txBody>
      </p:sp>
      <p:graphicFrame>
        <p:nvGraphicFramePr>
          <p:cNvPr id="2" name="Taulukko 1">
            <a:extLst>
              <a:ext uri="{FF2B5EF4-FFF2-40B4-BE49-F238E27FC236}">
                <a16:creationId xmlns:a16="http://schemas.microsoft.com/office/drawing/2014/main" id="{39A0F34B-0BCC-4C92-AE09-E7B2E835CB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0069127"/>
              </p:ext>
            </p:extLst>
          </p:nvPr>
        </p:nvGraphicFramePr>
        <p:xfrm>
          <a:off x="520700" y="1219200"/>
          <a:ext cx="10934702" cy="4229102"/>
        </p:xfrm>
        <a:graphic>
          <a:graphicData uri="http://schemas.openxmlformats.org/drawingml/2006/table">
            <a:tbl>
              <a:tblPr firstRow="1"/>
              <a:tblGrid>
                <a:gridCol w="2550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3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0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113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lang="en-US" sz="2000" b="1">
                          <a:solidFill>
                            <a:srgbClr val="F7F6F2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Team member</a:t>
                      </a:r>
                    </a:p>
                  </a:txBody>
                  <a:tcPr marL="114300" marR="114300" marT="66675" marB="66675"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lang="en-US" sz="2000" b="1">
                          <a:solidFill>
                            <a:srgbClr val="F7F6F2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Main work</a:t>
                      </a:r>
                    </a:p>
                  </a:txBody>
                  <a:tcPr marL="114300" marR="114300" marT="66675" marB="66675"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lang="en-US" sz="2000" b="1">
                          <a:solidFill>
                            <a:srgbClr val="F7F6F2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Hours</a:t>
                      </a:r>
                    </a:p>
                  </a:txBody>
                  <a:tcPr marL="114300" marR="114300" marT="66675" marB="66675" anchor="ctr"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49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95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Niko Lindqvist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95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Search, accounts, review</a:t>
                      </a:r>
                      <a:r>
                        <a:rPr lang="fi-FI" sz="1950" b="0" dirty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 </a:t>
                      </a:r>
                      <a:r>
                        <a:rPr sz="195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and UI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i-FI" sz="2000" b="0" i="0" u="none" strike="noStrike" noProof="0">
                          <a:solidFill>
                            <a:schemeClr val="tx1"/>
                          </a:solidFill>
                        </a:rPr>
                        <a:t>70</a:t>
                      </a:r>
                    </a:p>
                  </a:txBody>
                  <a:tcPr marL="114300" marR="114300" marT="66675" marB="6667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49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lang="fi-FI" sz="195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Milja Tissari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lang="en-US" sz="195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Reviews, general coding</a:t>
                      </a:r>
                      <a:endParaRPr sz="1950" b="0">
                        <a:solidFill>
                          <a:srgbClr val="171717"/>
                        </a:solidFill>
                        <a:latin typeface="Nimbus Sans"/>
                        <a:ea typeface="Nimbus Sans"/>
                        <a:cs typeface="Nimbus Sans"/>
                      </a:endParaRP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lang="fi-FI" sz="195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58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49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lang="fi-FI" sz="195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Ville Korkeaniemi</a:t>
                      </a:r>
                      <a:endParaRPr sz="1950" b="0">
                        <a:solidFill>
                          <a:srgbClr val="171717"/>
                        </a:solidFill>
                        <a:latin typeface="Nimbus Sans"/>
                        <a:ea typeface="Nimbus Sans"/>
                        <a:cs typeface="Nimbus Sans"/>
                      </a:endParaRP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lang="en-US" sz="195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Groups, scrum, testing, general coding 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20000"/>
                        </a:lnSpc>
                        <a:buNone/>
                      </a:pPr>
                      <a:r>
                        <a:rPr lang="en-US" sz="195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65 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lang="fi-FI" sz="195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Tomi Koskinen</a:t>
                      </a:r>
                      <a:endParaRPr sz="1950" b="0">
                        <a:solidFill>
                          <a:srgbClr val="171717"/>
                        </a:solidFill>
                        <a:latin typeface="Nimbus Sans"/>
                        <a:ea typeface="Nimbus Sans"/>
                        <a:cs typeface="Nimbus Sans"/>
                      </a:endParaRP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lang="fi-FI" sz="195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Deployment, stressing about Github, bug hunting</a:t>
                      </a:r>
                      <a:endParaRPr sz="1950" b="0">
                        <a:solidFill>
                          <a:srgbClr val="171717"/>
                        </a:solidFill>
                        <a:latin typeface="Nimbus Sans"/>
                        <a:ea typeface="Nimbus Sans"/>
                        <a:cs typeface="Nimbus Sans"/>
                      </a:endParaRP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lang="fi-FI" sz="195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68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49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lang="fi-FI" sz="195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Toni Palmén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lang="en-US" sz="195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UI improvements, TMDB movie routing, Favorites sharing</a:t>
                      </a:r>
                      <a:endParaRPr lang="en-US" sz="1950" b="0" err="1">
                        <a:solidFill>
                          <a:srgbClr val="171717"/>
                        </a:solidFill>
                        <a:latin typeface="Nimbus Sans"/>
                        <a:ea typeface="Nimbus Sans"/>
                        <a:cs typeface="Nimbus Sans"/>
                      </a:endParaRP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lang="en-US" sz="195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60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969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674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title">
            <a:extLst>
              <a:ext uri="{FF2B5EF4-FFF2-40B4-BE49-F238E27FC236}">
                <a16:creationId xmlns:a16="http://schemas.microsoft.com/office/drawing/2014/main" id="{C80FA996-B974-4B57-9D5D-EC3B4E007A09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450" b="1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3450" b="1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71717"/>
                </a:solidFill>
                <a:latin typeface="Nimbus Sans"/>
                <a:ea typeface="Nimbus Sans"/>
                <a:cs typeface="Nimbus Sans"/>
              </a:rPr>
              <a:t>Our app and how it works</a:t>
            </a:r>
          </a:p>
        </p:txBody>
      </p:sp>
      <p:sp>
        <p:nvSpPr>
          <p:cNvPr id="2" name="technology-list">
            <a:extLst>
              <a:ext uri="{FF2B5EF4-FFF2-40B4-BE49-F238E27FC236}">
                <a16:creationId xmlns:a16="http://schemas.microsoft.com/office/drawing/2014/main" id="{A3C00ADE-6AD4-42EF-A942-F97F260F3542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5143500" cy="3238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0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marL="292100" indent="-139700">
              <a:spcAft>
                <a:spcPts val="1900"/>
              </a:spcAft>
              <a:buChar char="•"/>
              <a:defRPr sz="2175" b="0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71717"/>
                </a:solidFill>
                <a:latin typeface="Nimbus Sans"/>
                <a:ea typeface="Nimbus Sans"/>
                <a:cs typeface="Nimbus Sans"/>
              </a:rPr>
              <a:t>React builds the pages and forms.</a:t>
            </a:r>
          </a:p>
          <a:p>
            <a:pPr marL="292100" indent="-139700">
              <a:spcAft>
                <a:spcPts val="1900"/>
              </a:spcAft>
              <a:buChar char="•"/>
              <a:defRPr sz="2175" b="0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71717"/>
                </a:solidFill>
                <a:latin typeface="Nimbus Sans"/>
                <a:ea typeface="Nimbus Sans"/>
                <a:cs typeface="Nimbus Sans"/>
              </a:rPr>
              <a:t>Node.js and Express handle API requests.</a:t>
            </a:r>
          </a:p>
          <a:p>
            <a:pPr marL="292100" indent="-139700">
              <a:spcAft>
                <a:spcPts val="1900"/>
              </a:spcAft>
              <a:buChar char="•"/>
              <a:defRPr sz="2175" b="0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71717"/>
                </a:solidFill>
                <a:latin typeface="Nimbus Sans"/>
                <a:ea typeface="Nimbus Sans"/>
                <a:cs typeface="Nimbus Sans"/>
              </a:rPr>
              <a:t>PostgreSQL stores our application data.</a:t>
            </a:r>
          </a:p>
          <a:p>
            <a:pPr marL="292100" indent="-139700">
              <a:spcAft>
                <a:spcPts val="1900"/>
              </a:spcAft>
              <a:buChar char="•"/>
              <a:defRPr sz="2175" b="0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71717"/>
                </a:solidFill>
                <a:latin typeface="Nimbus Sans"/>
                <a:ea typeface="Nimbus Sans"/>
                <a:cs typeface="Nimbus Sans"/>
              </a:rPr>
              <a:t>TMDB provides movie information and posters.</a:t>
            </a:r>
          </a:p>
        </p:txBody>
      </p:sp>
      <p:pic>
        <p:nvPicPr>
          <p:cNvPr id="7" name="Kuva 6">
            <a:extLst>
              <a:ext uri="{FF2B5EF4-FFF2-40B4-BE49-F238E27FC236}">
                <a16:creationId xmlns:a16="http://schemas.microsoft.com/office/drawing/2014/main" id="{E4283B04-FF18-09E1-D164-A3FC6ED6E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49" y="1488672"/>
            <a:ext cx="5288049" cy="347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97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title">
            <a:extLst>
              <a:ext uri="{FF2B5EF4-FFF2-40B4-BE49-F238E27FC236}">
                <a16:creationId xmlns:a16="http://schemas.microsoft.com/office/drawing/2014/main" id="{B9A9A437-DBCB-4D08-8A63-BF9A441AEC70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300" b="1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3300" b="1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171717"/>
                </a:solidFill>
                <a:latin typeface="Nimbus Sans"/>
                <a:ea typeface="Nimbus Sans"/>
                <a:cs typeface="Nimbus Sans"/>
              </a:rPr>
              <a:t>All 15 requirements</a:t>
            </a:r>
          </a:p>
        </p:txBody>
      </p:sp>
      <p:sp>
        <p:nvSpPr>
          <p:cNvPr id="2" name="checklist-subtitle">
            <a:extLst>
              <a:ext uri="{FF2B5EF4-FFF2-40B4-BE49-F238E27FC236}">
                <a16:creationId xmlns:a16="http://schemas.microsoft.com/office/drawing/2014/main" id="{055BDEE7-AA85-4435-97A0-813339A2A47F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950" b="0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71717"/>
                </a:solidFill>
                <a:latin typeface="Nimbus Sans"/>
                <a:ea typeface="Nimbus Sans"/>
                <a:cs typeface="Nimbus Sans"/>
              </a:rPr>
              <a:t>What we implemented</a:t>
            </a:r>
          </a:p>
        </p:txBody>
      </p:sp>
      <p:graphicFrame>
        <p:nvGraphicFramePr>
          <p:cNvPr id="3" name="Taulukko 2">
            <a:extLst>
              <a:ext uri="{FF2B5EF4-FFF2-40B4-BE49-F238E27FC236}">
                <a16:creationId xmlns:a16="http://schemas.microsoft.com/office/drawing/2014/main" id="{2C66BFB1-8C9D-40D4-A645-290DA85DAC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362347"/>
              </p:ext>
            </p:extLst>
          </p:nvPr>
        </p:nvGraphicFramePr>
        <p:xfrm>
          <a:off x="685800" y="1390650"/>
          <a:ext cx="9324975" cy="4914900"/>
        </p:xfrm>
        <a:graphic>
          <a:graphicData uri="http://schemas.openxmlformats.org/drawingml/2006/table">
            <a:tbl>
              <a:tblPr firstRow="1"/>
              <a:tblGrid>
                <a:gridCol w="51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5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05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800" b="1">
                          <a:solidFill>
                            <a:srgbClr val="F7F6F2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ID</a:t>
                      </a:r>
                    </a:p>
                  </a:txBody>
                  <a:tcPr marL="66675" marR="66675" marT="9525" marB="9525"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800" b="1">
                          <a:solidFill>
                            <a:srgbClr val="F7F6F2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Requirement</a:t>
                      </a:r>
                    </a:p>
                  </a:txBody>
                  <a:tcPr marL="66675" marR="66675" marT="9525" marB="9525"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800" b="1">
                          <a:solidFill>
                            <a:srgbClr val="F7F6F2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What we implemented</a:t>
                      </a:r>
                    </a:p>
                  </a:txBody>
                  <a:tcPr marL="66675" marR="66675" marT="9525" marB="9525" anchor="ctr"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Responsive layout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Desktop and phone layouts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Registration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Email, password: 8+ chars, uppercase, number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Login and logout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Login and logout functions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Account and data deletion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Account deletion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5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Movie and series search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Title, year and genre search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In cinemas in Finland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TMDB cinema list for Finland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7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Groups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create, list, access and delete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8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Join requests and approval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request, accept and reject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9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Remove members / leave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remove a member and leave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10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Add a movie to a group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add a searched movie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11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Write a movie review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text, 1-5 stars, author and date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12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Public review browsing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reviews visible to everyone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13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Public favourite lists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fi-FI"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</a:t>
                      </a:r>
                      <a:r>
                        <a:rPr sz="1725" b="0" err="1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wn</a:t>
                      </a: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 list with a public page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14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Share favourites by URL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share link and public access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15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Extra feature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Language options and </a:t>
                      </a:r>
                      <a:r>
                        <a:rPr sz="1725" b="0" err="1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colour</a:t>
                      </a:r>
                      <a:r>
                        <a:rPr sz="1725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 themes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4438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title">
            <a:extLst>
              <a:ext uri="{FF2B5EF4-FFF2-40B4-BE49-F238E27FC236}">
                <a16:creationId xmlns:a16="http://schemas.microsoft.com/office/drawing/2014/main" id="{78B2256D-CC97-492C-834D-0C17F38063C3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450" b="1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3450" b="1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71717"/>
                </a:solidFill>
                <a:latin typeface="Nimbus Sans"/>
                <a:ea typeface="Nimbus Sans"/>
                <a:cs typeface="Nimbus Sans"/>
              </a:rPr>
              <a:t>Live website demo</a:t>
            </a:r>
          </a:p>
        </p:txBody>
      </p:sp>
      <p:sp>
        <p:nvSpPr>
          <p:cNvPr id="2" name="demo-url">
            <a:extLst>
              <a:ext uri="{FF2B5EF4-FFF2-40B4-BE49-F238E27FC236}">
                <a16:creationId xmlns:a16="http://schemas.microsoft.com/office/drawing/2014/main" id="{C1B36859-9219-4715-A784-E1561CBA7FA5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2100" b="0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71717"/>
                </a:solidFill>
                <a:latin typeface="Nimbus Sans"/>
                <a:ea typeface="Nimbus Sans"/>
                <a:cs typeface="Nimbus Sans"/>
              </a:rPr>
              <a:t>Website: </a:t>
            </a:r>
            <a:r>
              <a:rPr lang="fi-FI" sz="2100">
                <a:solidFill>
                  <a:srgbClr val="171717"/>
                </a:solidFill>
                <a:latin typeface="Nimbus Sans"/>
                <a:ea typeface="Nimbus Sans"/>
                <a:cs typeface="Nimbus Sans"/>
              </a:rPr>
              <a:t>http://86.50.21.8/</a:t>
            </a:r>
            <a:endParaRPr sz="2100" b="0">
              <a:solidFill>
                <a:srgbClr val="171717"/>
              </a:solidFill>
              <a:latin typeface="Nimbus Sans"/>
              <a:ea typeface="Nimbus Sans"/>
              <a:cs typeface="Nimbus Sans"/>
            </a:endParaRPr>
          </a:p>
        </p:txBody>
      </p:sp>
      <p:graphicFrame>
        <p:nvGraphicFramePr>
          <p:cNvPr id="3" name="Taulukko 2">
            <a:extLst>
              <a:ext uri="{FF2B5EF4-FFF2-40B4-BE49-F238E27FC236}">
                <a16:creationId xmlns:a16="http://schemas.microsoft.com/office/drawing/2014/main" id="{9A1C0A24-68D7-4273-B4E9-A4492AEA89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3229518"/>
              </p:ext>
            </p:extLst>
          </p:nvPr>
        </p:nvGraphicFramePr>
        <p:xfrm>
          <a:off x="685800" y="1952624"/>
          <a:ext cx="9182100" cy="4187826"/>
        </p:xfrm>
        <a:graphic>
          <a:graphicData uri="http://schemas.openxmlformats.org/drawingml/2006/table">
            <a:tbl>
              <a:tblPr firstRow="1"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67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875" b="1">
                          <a:solidFill>
                            <a:srgbClr val="F7F6F2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Step</a:t>
                      </a:r>
                    </a:p>
                  </a:txBody>
                  <a:tcPr marL="66675" marR="66675" marT="9525" marB="9525"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875" b="1">
                          <a:solidFill>
                            <a:srgbClr val="F7F6F2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What we show</a:t>
                      </a:r>
                    </a:p>
                  </a:txBody>
                  <a:tcPr marL="66675" marR="66675" marT="9525" marB="9525" anchor="ctr"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0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Guest: Finland list, title/year/genre search, phone view and themes/languages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3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Sign-up, password checks, login and logout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9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Groups: create/delete, join, approve/reject, remove/leave and add movies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79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Review: save stars and text, show author/date and public view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3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5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err="1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Favourites</a:t>
                      </a:r>
                      <a:r>
                        <a:rPr lang="en-US" sz="180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: public list and shared URL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3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Delete a demo account and check its related data</a:t>
                      </a:r>
                    </a:p>
                  </a:txBody>
                  <a:tcPr marL="66675" marR="666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demo-guidance">
            <a:extLst>
              <a:ext uri="{FF2B5EF4-FFF2-40B4-BE49-F238E27FC236}">
                <a16:creationId xmlns:a16="http://schemas.microsoft.com/office/drawing/2014/main" id="{82037339-0C65-46F6-97F3-1EF8A6787641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62605B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800" b="0">
                <a:solidFill>
                  <a:srgbClr val="62605B"/>
                </a:solidFill>
                <a:latin typeface="Nimbus Sans"/>
                <a:ea typeface="Nimbus Sans"/>
                <a:cs typeface="Nimbus Sans"/>
              </a:defRPr>
            </a:pPr>
            <a:endParaRPr sz="1800" b="0">
              <a:solidFill>
                <a:srgbClr val="62605B"/>
              </a:solidFill>
              <a:latin typeface="Nimbus Sans"/>
              <a:ea typeface="Nimbus Sans"/>
              <a:cs typeface="Nimbus Sans"/>
            </a:endParaRPr>
          </a:p>
        </p:txBody>
      </p:sp>
    </p:spTree>
    <p:extLst>
      <p:ext uri="{BB962C8B-B14F-4D97-AF65-F5344CB8AC3E}">
        <p14:creationId xmlns:p14="http://schemas.microsoft.com/office/powerpoint/2010/main" val="1155339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title">
            <a:extLst>
              <a:ext uri="{FF2B5EF4-FFF2-40B4-BE49-F238E27FC236}">
                <a16:creationId xmlns:a16="http://schemas.microsoft.com/office/drawing/2014/main" id="{9CB5530C-097E-47F7-8E22-9677E631B325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450" b="1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3450" b="1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71717"/>
                </a:solidFill>
                <a:latin typeface="Nimbus Sans"/>
                <a:ea typeface="Nimbus Sans"/>
                <a:cs typeface="Nimbus Sans"/>
              </a:rPr>
              <a:t>Niko's contribution</a:t>
            </a:r>
          </a:p>
        </p:txBody>
      </p:sp>
      <p:sp>
        <p:nvSpPr>
          <p:cNvPr id="2" name="niko-work">
            <a:extLst>
              <a:ext uri="{FF2B5EF4-FFF2-40B4-BE49-F238E27FC236}">
                <a16:creationId xmlns:a16="http://schemas.microsoft.com/office/drawing/2014/main" id="{2B89A82D-D07C-4A55-9DF1-2B1D1BFC236F}"/>
              </a:ext>
            </a:extLst>
          </p:cNvPr>
          <p:cNvSpPr>
            <a:spLocks noGrp="1"/>
          </p:cNvSpPr>
          <p:nvPr/>
        </p:nvSpPr>
        <p:spPr>
          <a:xfrm>
            <a:off x="685800" y="1819275"/>
            <a:ext cx="5934075" cy="3448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marL="292100" indent="-139700">
              <a:spcAft>
                <a:spcPts val="2000"/>
              </a:spcAft>
              <a:buChar char="•"/>
              <a:defRPr sz="2175" b="0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pPr>
            <a:r>
              <a:rPr sz="2400" b="0">
                <a:solidFill>
                  <a:srgbClr val="171717"/>
                </a:solidFill>
                <a:latin typeface="Nimbus Sans"/>
                <a:ea typeface="Nimbus Sans"/>
                <a:cs typeface="Nimbus Sans"/>
              </a:rPr>
              <a:t>Movie search and the Finland cinema list</a:t>
            </a:r>
            <a:endParaRPr lang="fi-FI" sz="2400" b="0" dirty="0">
              <a:solidFill>
                <a:srgbClr val="171717"/>
              </a:solidFill>
              <a:latin typeface="Nimbus Sans"/>
              <a:ea typeface="Nimbus Sans"/>
              <a:cs typeface="Nimbus Sans"/>
            </a:endParaRPr>
          </a:p>
          <a:p>
            <a:pPr marL="292100" indent="-139700">
              <a:spcAft>
                <a:spcPts val="2000"/>
              </a:spcAft>
              <a:buChar char="•"/>
              <a:defRPr sz="2175" b="0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pPr>
            <a:r>
              <a:rPr sz="2400" b="0">
                <a:solidFill>
                  <a:srgbClr val="171717"/>
                </a:solidFill>
                <a:latin typeface="Nimbus Sans"/>
                <a:ea typeface="Nimbus Sans"/>
                <a:cs typeface="Nimbus Sans"/>
              </a:rPr>
              <a:t>Registration, login and account deletion</a:t>
            </a:r>
            <a:endParaRPr sz="2400" b="0" dirty="0">
              <a:solidFill>
                <a:srgbClr val="171717"/>
              </a:solidFill>
              <a:latin typeface="Nimbus Sans"/>
              <a:ea typeface="Nimbus Sans"/>
              <a:cs typeface="Nimbus Sans"/>
            </a:endParaRPr>
          </a:p>
          <a:p>
            <a:pPr marL="292100" indent="-139700">
              <a:spcAft>
                <a:spcPts val="2000"/>
              </a:spcAft>
              <a:buChar char="•"/>
              <a:defRPr sz="2175" b="0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pPr>
            <a:r>
              <a:rPr sz="2400" b="0" dirty="0" err="1">
                <a:solidFill>
                  <a:srgbClr val="171717"/>
                </a:solidFill>
                <a:latin typeface="Nimbus Sans"/>
                <a:ea typeface="Nimbus Sans"/>
                <a:cs typeface="Nimbus Sans"/>
              </a:rPr>
              <a:t>Reviews.jsx</a:t>
            </a:r>
            <a:r>
              <a:rPr sz="2400" b="0" dirty="0">
                <a:solidFill>
                  <a:srgbClr val="171717"/>
                </a:solidFill>
                <a:latin typeface="Nimbus Sans"/>
                <a:ea typeface="Nimbus Sans"/>
                <a:cs typeface="Nimbus Sans"/>
              </a:rPr>
              <a:t>: the form and preview</a:t>
            </a:r>
          </a:p>
          <a:p>
            <a:pPr marL="292100" indent="-139700">
              <a:spcAft>
                <a:spcPts val="2000"/>
              </a:spcAft>
              <a:buChar char="•"/>
              <a:defRPr sz="2175" b="0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pPr>
            <a:r>
              <a:rPr sz="2400" b="0">
                <a:solidFill>
                  <a:srgbClr val="171717"/>
                </a:solidFill>
                <a:latin typeface="Nimbus Sans"/>
                <a:ea typeface="Nimbus Sans"/>
                <a:cs typeface="Nimbus Sans"/>
              </a:rPr>
              <a:t>Language options, themes and CSS</a:t>
            </a:r>
            <a:endParaRPr lang="fi-FI" sz="2400" b="0">
              <a:solidFill>
                <a:srgbClr val="171717"/>
              </a:solidFill>
              <a:latin typeface="Nimbus Sans"/>
              <a:ea typeface="Nimbus Sans"/>
              <a:cs typeface="Nimbus Sans"/>
            </a:endParaRPr>
          </a:p>
          <a:p>
            <a:pPr marL="292100" indent="-139700">
              <a:spcAft>
                <a:spcPts val="2000"/>
              </a:spcAft>
              <a:buChar char="•"/>
              <a:defRPr sz="2175" b="0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pPr>
            <a:r>
              <a:rPr lang="fi-FI" sz="2400">
                <a:solidFill>
                  <a:srgbClr val="171717"/>
                </a:solidFill>
                <a:latin typeface="Nimbus Sans"/>
              </a:rPr>
              <a:t>My estimated workload was around 70 hours, including development, troubleshooting, the database diagram and presentation preparation</a:t>
            </a:r>
            <a:endParaRPr lang="fi-FI" sz="2400" b="0">
              <a:solidFill>
                <a:srgbClr val="171717"/>
              </a:solidFill>
              <a:latin typeface="Nimbus Sans"/>
              <a:ea typeface="Nimbus Sans"/>
              <a:cs typeface="Nimbus Sans"/>
            </a:endParaRPr>
          </a:p>
        </p:txBody>
      </p:sp>
      <p:pic>
        <p:nvPicPr>
          <p:cNvPr id="3" name="Kuva 2">
            <a:extLst>
              <a:ext uri="{FF2B5EF4-FFF2-40B4-BE49-F238E27FC236}">
                <a16:creationId xmlns:a16="http://schemas.microsoft.com/office/drawing/2014/main" id="{8D0BC2AD-D5D5-42A2-B702-52317FED79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00" t="70100" r="4200" b="12200"/>
          <a:stretch/>
        </p:blipFill>
        <p:spPr>
          <a:xfrm>
            <a:off x="7067550" y="2400300"/>
            <a:ext cx="4438650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787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116C0-F017-85BD-5F1B-84564B5AB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</p:spPr>
        <p:txBody>
          <a:bodyPr wrap="square" lIns="0" tIns="0" rIns="0" bIns="0">
            <a:normAutofit/>
          </a:bodyPr>
          <a:lstStyle/>
          <a:p>
            <a:pPr>
              <a:defRPr sz="3450" b="1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pPr>
            <a:r>
              <a:rPr lang="en-US" sz="3450" b="1">
                <a:latin typeface="Nimbus Sans"/>
              </a:rPr>
              <a:t>Ville´s contribution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C02E193-EC9D-9B3F-8B76-3717E69BC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</p:spPr>
        <p:txBody>
          <a:bodyPr/>
          <a:lstStyle/>
          <a:p>
            <a:r>
              <a:rPr lang="en-US" sz="2400">
                <a:latin typeface="Nimbus Sans"/>
              </a:rPr>
              <a:t>I worked mainly on group-section.</a:t>
            </a:r>
          </a:p>
          <a:p>
            <a:r>
              <a:rPr lang="en-US" sz="2400">
                <a:latin typeface="Nimbus Sans"/>
              </a:rPr>
              <a:t>Organizing our roadmap and informing other team members about our next steps.</a:t>
            </a:r>
          </a:p>
          <a:p>
            <a:r>
              <a:rPr lang="en-US" sz="2400">
                <a:latin typeface="Nimbus Sans"/>
              </a:rPr>
              <a:t>General coding and testing.</a:t>
            </a:r>
          </a:p>
          <a:p>
            <a:r>
              <a:rPr lang="en-US" sz="2400">
                <a:latin typeface="Nimbus Sans"/>
              </a:rPr>
              <a:t>Bug fixing.</a:t>
            </a:r>
          </a:p>
          <a:p>
            <a:endParaRPr lang="en-US" sz="2400" dirty="0">
              <a:latin typeface="Nimbus Sans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37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2AB0CA-773F-C664-7C71-3D2078A68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-title">
            <a:extLst>
              <a:ext uri="{FF2B5EF4-FFF2-40B4-BE49-F238E27FC236}">
                <a16:creationId xmlns:a16="http://schemas.microsoft.com/office/drawing/2014/main" id="{9E2674DA-2563-D912-8C24-3F2632FFB13A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3450" b="1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pPr>
            <a:r>
              <a:rPr lang="en-US" sz="3500" b="1">
                <a:solidFill>
                  <a:srgbClr val="171717"/>
                </a:solidFill>
                <a:latin typeface="Nimbus Sans"/>
                <a:ea typeface="Nimbus Sans"/>
                <a:cs typeface="Nimbus Sans"/>
              </a:rPr>
              <a:t>Toni´s contribution</a:t>
            </a:r>
            <a:endParaRPr lang="en-US" sz="3500">
              <a:solidFill>
                <a:srgbClr val="000000"/>
              </a:solidFill>
              <a:latin typeface="Nimbus Sans"/>
              <a:ea typeface="Nimbus Sans"/>
              <a:cs typeface="Nimbus Sans"/>
            </a:endParaRPr>
          </a:p>
          <a:p>
            <a:pPr>
              <a:defRPr sz="3450" b="1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pPr>
            <a:endParaRPr sz="3450" b="1" dirty="0">
              <a:solidFill>
                <a:srgbClr val="171717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E2B2E0-CA95-5131-67B2-6D77F6FF3A0E}"/>
              </a:ext>
            </a:extLst>
          </p:cNvPr>
          <p:cNvSpPr txBox="1"/>
          <p:nvPr/>
        </p:nvSpPr>
        <p:spPr>
          <a:xfrm>
            <a:off x="497840" y="1701800"/>
            <a:ext cx="8544560" cy="33188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92100" indent="-139700">
              <a:lnSpc>
                <a:spcPts val="2325"/>
              </a:lnSpc>
              <a:buFont typeface=""/>
              <a:buChar char="•"/>
            </a:pPr>
            <a:r>
              <a:rPr lang="en-US" sz="2400" dirty="0">
                <a:solidFill>
                  <a:srgbClr val="171717"/>
                </a:solidFill>
                <a:latin typeface="Nimbus Sans"/>
                <a:cs typeface="Arial"/>
              </a:rPr>
              <a:t>Worked on the </a:t>
            </a:r>
            <a:r>
              <a:rPr lang="en-US" sz="2400" dirty="0" err="1">
                <a:solidFill>
                  <a:srgbClr val="171717"/>
                </a:solidFill>
                <a:latin typeface="Nimbus Sans"/>
                <a:cs typeface="Arial"/>
              </a:rPr>
              <a:t>moviedetails</a:t>
            </a:r>
            <a:r>
              <a:rPr lang="en-US" sz="2400" dirty="0">
                <a:solidFill>
                  <a:srgbClr val="171717"/>
                </a:solidFill>
                <a:latin typeface="Nimbus Sans"/>
                <a:cs typeface="Arial"/>
              </a:rPr>
              <a:t> page</a:t>
            </a:r>
          </a:p>
          <a:p>
            <a:pPr marL="749300" lvl="1" indent="-139700">
              <a:lnSpc>
                <a:spcPts val="2325"/>
              </a:lnSpc>
              <a:buFont typeface="Courier New"/>
              <a:buChar char="o"/>
            </a:pPr>
            <a:r>
              <a:rPr lang="en-US" sz="2400">
                <a:solidFill>
                  <a:srgbClr val="171717"/>
                </a:solidFill>
                <a:latin typeface="Nimbus Sans"/>
                <a:ea typeface="+mn-lt"/>
                <a:cs typeface="+mn-lt"/>
              </a:rPr>
              <a:t>Used TMDB movie IDs to open movies on our own page</a:t>
            </a:r>
            <a:endParaRPr lang="en-US" sz="2400" dirty="0">
              <a:solidFill>
                <a:srgbClr val="171717"/>
              </a:solidFill>
              <a:latin typeface="Nimbus Sans"/>
              <a:cs typeface="Arial"/>
            </a:endParaRPr>
          </a:p>
          <a:p>
            <a:pPr marL="292100" indent="-139700">
              <a:lnSpc>
                <a:spcPts val="2325"/>
              </a:lnSpc>
              <a:buFont typeface=""/>
              <a:buChar char="•"/>
            </a:pPr>
            <a:endParaRPr lang="en-US" sz="2400" dirty="0">
              <a:solidFill>
                <a:srgbClr val="171717"/>
              </a:solidFill>
              <a:latin typeface="Nimbus Sans"/>
              <a:cs typeface="Arial"/>
            </a:endParaRPr>
          </a:p>
          <a:p>
            <a:pPr marL="292100" indent="-139700">
              <a:lnSpc>
                <a:spcPts val="2325"/>
              </a:lnSpc>
              <a:buFont typeface=""/>
              <a:buChar char="•"/>
            </a:pPr>
            <a:r>
              <a:rPr lang="en-US" sz="2400" dirty="0">
                <a:solidFill>
                  <a:srgbClr val="171717"/>
                </a:solidFill>
                <a:latin typeface="Nimbus Sans"/>
                <a:cs typeface="Arial"/>
              </a:rPr>
              <a:t>Added the </a:t>
            </a:r>
            <a:r>
              <a:rPr lang="en-US" sz="2400" dirty="0" err="1">
                <a:solidFill>
                  <a:srgbClr val="171717"/>
                </a:solidFill>
                <a:latin typeface="Nimbus Sans"/>
                <a:cs typeface="Arial"/>
              </a:rPr>
              <a:t>Favourites</a:t>
            </a:r>
            <a:r>
              <a:rPr lang="en-US" sz="2400" dirty="0">
                <a:solidFill>
                  <a:srgbClr val="171717"/>
                </a:solidFill>
                <a:latin typeface="Nimbus Sans"/>
                <a:cs typeface="Arial"/>
              </a:rPr>
              <a:t> sharing function</a:t>
            </a:r>
          </a:p>
          <a:p>
            <a:pPr marL="292100" indent="-139700">
              <a:lnSpc>
                <a:spcPts val="2325"/>
              </a:lnSpc>
              <a:buFont typeface=""/>
              <a:buChar char="•"/>
            </a:pPr>
            <a:endParaRPr lang="en-US" sz="2400" dirty="0">
              <a:solidFill>
                <a:srgbClr val="171717"/>
              </a:solidFill>
              <a:latin typeface="Nimbus Sans"/>
              <a:ea typeface="+mn-lt"/>
              <a:cs typeface="Arial"/>
            </a:endParaRPr>
          </a:p>
          <a:p>
            <a:pPr marL="292100" indent="-139700">
              <a:lnSpc>
                <a:spcPts val="2325"/>
              </a:lnSpc>
              <a:buFont typeface=""/>
              <a:buChar char="•"/>
            </a:pPr>
            <a:r>
              <a:rPr lang="en-US" sz="2400">
                <a:solidFill>
                  <a:srgbClr val="171717"/>
                </a:solidFill>
                <a:latin typeface="Nimbus Sans"/>
                <a:ea typeface="+mn-lt"/>
                <a:cs typeface="+mn-lt"/>
              </a:rPr>
              <a:t>Worked on the user interface </a:t>
            </a:r>
            <a:endParaRPr lang="en-US" sz="2400">
              <a:solidFill>
                <a:srgbClr val="000000"/>
              </a:solidFill>
              <a:latin typeface="Nimbus Sans"/>
              <a:ea typeface="+mn-lt"/>
              <a:cs typeface="+mn-lt"/>
            </a:endParaRPr>
          </a:p>
          <a:p>
            <a:pPr marL="749300" lvl="1" indent="-139700">
              <a:lnSpc>
                <a:spcPts val="2325"/>
              </a:lnSpc>
              <a:buFont typeface="Courier New"/>
              <a:buChar char="o"/>
            </a:pPr>
            <a:r>
              <a:rPr lang="en-US" sz="2400">
                <a:solidFill>
                  <a:srgbClr val="171717"/>
                </a:solidFill>
                <a:latin typeface="Nimbus Sans"/>
                <a:ea typeface="+mn-lt"/>
                <a:cs typeface="+mn-lt"/>
              </a:rPr>
              <a:t>Improved buttons and mobile scaling</a:t>
            </a:r>
            <a:endParaRPr lang="en-US" sz="2400">
              <a:solidFill>
                <a:srgbClr val="000000"/>
              </a:solidFill>
              <a:latin typeface="Nimbus Sans"/>
              <a:ea typeface="+mn-lt"/>
              <a:cs typeface="+mn-lt"/>
            </a:endParaRPr>
          </a:p>
          <a:p>
            <a:pPr marL="749300" lvl="1" indent="-139700">
              <a:lnSpc>
                <a:spcPts val="2325"/>
              </a:lnSpc>
              <a:buFont typeface="Courier New"/>
              <a:buChar char="o"/>
            </a:pPr>
            <a:r>
              <a:rPr lang="en-US" sz="2400">
                <a:solidFill>
                  <a:srgbClr val="171717"/>
                </a:solidFill>
                <a:latin typeface="Nimbus Sans"/>
                <a:ea typeface="+mn-lt"/>
                <a:cs typeface="+mn-lt"/>
              </a:rPr>
              <a:t>Simplified movie information shown on the front page</a:t>
            </a:r>
            <a:endParaRPr lang="en-US" sz="2400">
              <a:latin typeface="Nimbus Sans"/>
            </a:endParaRPr>
          </a:p>
          <a:p>
            <a:pPr marL="292100" indent="-139700">
              <a:lnSpc>
                <a:spcPts val="2325"/>
              </a:lnSpc>
              <a:buFont typeface=""/>
              <a:buChar char="•"/>
            </a:pPr>
            <a:endParaRPr lang="en-US" sz="2400" dirty="0">
              <a:solidFill>
                <a:srgbClr val="171717"/>
              </a:solidFill>
              <a:latin typeface="Nimbus Sans"/>
              <a:cs typeface="Arial"/>
            </a:endParaRPr>
          </a:p>
          <a:p>
            <a:pPr marL="292100" indent="-139700">
              <a:lnSpc>
                <a:spcPts val="2325"/>
              </a:lnSpc>
              <a:buFont typeface=""/>
              <a:buChar char="•"/>
            </a:pPr>
            <a:endParaRPr lang="en-US" sz="2400" dirty="0">
              <a:solidFill>
                <a:srgbClr val="171717"/>
              </a:solidFill>
              <a:latin typeface="Nimbus Sans"/>
              <a:cs typeface="Arial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514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-title">
            <a:extLst>
              <a:ext uri="{FF2B5EF4-FFF2-40B4-BE49-F238E27FC236}">
                <a16:creationId xmlns:a16="http://schemas.microsoft.com/office/drawing/2014/main" id="{1EC90849-68BA-4E61-A271-8E8033ABA5E5}"/>
              </a:ext>
            </a:extLst>
          </p:cNvPr>
          <p:cNvSpPr>
            <a:spLocks noGrp="1"/>
          </p:cNvSpPr>
          <p:nvPr/>
        </p:nvSpPr>
        <p:spPr>
          <a:xfrm>
            <a:off x="685800" y="514996"/>
            <a:ext cx="108204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3450" b="1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pPr>
            <a:r>
              <a:rPr lang="fi-FI" sz="3450">
                <a:solidFill>
                  <a:srgbClr val="171717"/>
                </a:solidFill>
                <a:latin typeface="Nimbus Sans"/>
                <a:ea typeface="Nimbus Sans"/>
                <a:cs typeface="Nimbus Sans"/>
              </a:rPr>
              <a:t>Tomi's contribution</a:t>
            </a:r>
            <a:endParaRPr lang="fi-FI" sz="3450" dirty="0">
              <a:solidFill>
                <a:srgbClr val="171717"/>
              </a:solidFill>
              <a:latin typeface="Nimbus Sans"/>
              <a:ea typeface="Nimbus Sans"/>
              <a:cs typeface="Nimbus Sans"/>
            </a:endParaRPr>
          </a:p>
          <a:p>
            <a:pPr>
              <a:defRPr sz="3450" b="1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pPr>
            <a:endParaRPr lang="fi-FI"/>
          </a:p>
        </p:txBody>
      </p:sp>
      <p:pic>
        <p:nvPicPr>
          <p:cNvPr id="2" name="Kuva 1">
            <a:extLst>
              <a:ext uri="{FF2B5EF4-FFF2-40B4-BE49-F238E27FC236}">
                <a16:creationId xmlns:a16="http://schemas.microsoft.com/office/drawing/2014/main" id="{6A4C306E-7E5E-565B-4B5A-4EF6FAF97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3100" y="2860094"/>
            <a:ext cx="4820920" cy="3608070"/>
          </a:xfrm>
          <a:prstGeom prst="rect">
            <a:avLst/>
          </a:prstGeom>
        </p:spPr>
      </p:pic>
      <p:sp>
        <p:nvSpPr>
          <p:cNvPr id="3" name="Tekstiruutu 2">
            <a:extLst>
              <a:ext uri="{FF2B5EF4-FFF2-40B4-BE49-F238E27FC236}">
                <a16:creationId xmlns:a16="http://schemas.microsoft.com/office/drawing/2014/main" id="{01164E9F-C46D-AB87-7CB6-ED287DB47741}"/>
              </a:ext>
            </a:extLst>
          </p:cNvPr>
          <p:cNvSpPr txBox="1"/>
          <p:nvPr/>
        </p:nvSpPr>
        <p:spPr>
          <a:xfrm>
            <a:off x="684992" y="1352324"/>
            <a:ext cx="5171440" cy="4770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fi-FI" sz="3500">
              <a:latin typeface="Segoe UI"/>
              <a:cs typeface="Segoe UI"/>
            </a:endParaRPr>
          </a:p>
          <a:p>
            <a:pPr marL="457200" indent="-457200">
              <a:buFont typeface="Calibri,Sans-Serif"/>
              <a:buChar char="-"/>
            </a:pPr>
            <a:r>
              <a:rPr lang="fi-FI" sz="3500">
                <a:solidFill>
                  <a:srgbClr val="171717"/>
                </a:solidFill>
                <a:latin typeface="Arial"/>
                <a:cs typeface="Arial"/>
              </a:rPr>
              <a:t>Duck pics </a:t>
            </a:r>
            <a:endParaRPr lang="fi-FI" sz="3500">
              <a:latin typeface="Arial"/>
              <a:cs typeface="Arial"/>
            </a:endParaRPr>
          </a:p>
          <a:p>
            <a:pPr marL="457200" indent="-457200">
              <a:buFont typeface="Calibri,Sans-Serif"/>
              <a:buChar char="-"/>
            </a:pPr>
            <a:r>
              <a:rPr lang="fi-FI" sz="3500">
                <a:solidFill>
                  <a:srgbClr val="171717"/>
                </a:solidFill>
                <a:latin typeface="Arial"/>
                <a:cs typeface="Arial"/>
              </a:rPr>
              <a:t>Deployment</a:t>
            </a:r>
            <a:endParaRPr lang="fi-FI" sz="3500">
              <a:latin typeface="Arial"/>
              <a:cs typeface="Arial"/>
            </a:endParaRPr>
          </a:p>
          <a:p>
            <a:pPr marL="457200" indent="-457200">
              <a:buFont typeface="Calibri,Sans-Serif"/>
              <a:buChar char="-"/>
            </a:pPr>
            <a:r>
              <a:rPr lang="fi-FI" sz="3500">
                <a:solidFill>
                  <a:srgbClr val="171717"/>
                </a:solidFill>
                <a:latin typeface="Arial"/>
                <a:cs typeface="Arial"/>
              </a:rPr>
              <a:t>Merging branches :D</a:t>
            </a:r>
            <a:endParaRPr lang="fi-FI" sz="3500">
              <a:latin typeface="Arial"/>
              <a:cs typeface="Arial"/>
            </a:endParaRPr>
          </a:p>
          <a:p>
            <a:pPr marL="457200" indent="-457200">
              <a:buFont typeface="Calibri,Sans-Serif"/>
              <a:buChar char="-"/>
            </a:pPr>
            <a:r>
              <a:rPr lang="fi-FI" sz="3500">
                <a:solidFill>
                  <a:srgbClr val="171717"/>
                </a:solidFill>
                <a:latin typeface="Arial"/>
                <a:cs typeface="Arial"/>
              </a:rPr>
              <a:t>Bug hunting</a:t>
            </a:r>
            <a:endParaRPr lang="fi-FI" sz="3500">
              <a:latin typeface="Arial"/>
              <a:cs typeface="Arial"/>
            </a:endParaRPr>
          </a:p>
          <a:p>
            <a:pPr marL="457200" indent="-457200">
              <a:buFont typeface="Calibri,Sans-Serif"/>
              <a:buChar char="-"/>
            </a:pPr>
            <a:r>
              <a:rPr lang="fi-FI" sz="3500">
                <a:solidFill>
                  <a:srgbClr val="171717"/>
                </a:solidFill>
                <a:latin typeface="Arial"/>
                <a:cs typeface="Arial"/>
              </a:rPr>
              <a:t>Live testing</a:t>
            </a:r>
            <a:endParaRPr lang="fi-FI" sz="3500">
              <a:latin typeface="Arial"/>
              <a:cs typeface="Arial"/>
            </a:endParaRPr>
          </a:p>
          <a:p>
            <a:pPr marL="457200" indent="-457200">
              <a:buFont typeface="Calibri,Sans-Serif"/>
              <a:buChar char="-"/>
            </a:pPr>
            <a:endParaRPr lang="fi-FI" sz="3500">
              <a:solidFill>
                <a:srgbClr val="171717"/>
              </a:solidFill>
              <a:latin typeface="Arial"/>
              <a:cs typeface="Arial"/>
            </a:endParaRPr>
          </a:p>
          <a:p>
            <a:endParaRPr lang="fi-FI" sz="3500">
              <a:solidFill>
                <a:srgbClr val="171717"/>
              </a:solidFill>
              <a:latin typeface="Arial"/>
              <a:cs typeface="Arial"/>
            </a:endParaRPr>
          </a:p>
          <a:p>
            <a:pPr marL="457200" indent="-457200">
              <a:buFont typeface="Calibri,Sans-Serif"/>
              <a:buChar char="-"/>
            </a:pPr>
            <a:r>
              <a:rPr lang="fi-FI" sz="600">
                <a:solidFill>
                  <a:srgbClr val="171717"/>
                </a:solidFill>
                <a:latin typeface="Arial"/>
                <a:cs typeface="Arial"/>
              </a:rPr>
              <a:t>Going rogue</a:t>
            </a:r>
            <a:endParaRPr lang="en-US" sz="600">
              <a:latin typeface="Arial"/>
              <a:cs typeface="Arial"/>
            </a:endParaRPr>
          </a:p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946287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E5AA49-5F85-16D3-2B01-D10FD311D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-title">
            <a:extLst>
              <a:ext uri="{FF2B5EF4-FFF2-40B4-BE49-F238E27FC236}">
                <a16:creationId xmlns:a16="http://schemas.microsoft.com/office/drawing/2014/main" id="{CEDE2379-5810-4DDC-E12A-2D4B0E917531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450" b="1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3450" b="1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pPr>
            <a:endParaRPr sz="3450" b="1">
              <a:solidFill>
                <a:srgbClr val="171717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53790B46-6CFA-21FF-9119-94F3D91A5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i-FI" sz="3600" b="1">
                <a:latin typeface="Nimbus Sans"/>
              </a:rPr>
              <a:t>Milja's contribution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0BC8DD54-47E5-7C4A-B166-CCCB71DEEA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-FI" sz="2400">
                <a:latin typeface="Nimbus Sans"/>
              </a:rPr>
              <a:t>Worked mainly on the movie review feature</a:t>
            </a:r>
          </a:p>
          <a:p>
            <a:pPr lvl="1">
              <a:buFont typeface="Courier New"/>
              <a:buChar char="o"/>
            </a:pPr>
            <a:r>
              <a:rPr lang="fi-FI">
                <a:latin typeface="Nimbus Sans"/>
              </a:rPr>
              <a:t>Database and backend functionality for saving, editing, deleting and displaying reviews</a:t>
            </a:r>
          </a:p>
          <a:p>
            <a:pPr lvl="1">
              <a:buFont typeface="Courier New"/>
              <a:buChar char="o"/>
            </a:pPr>
            <a:r>
              <a:rPr lang="fi-FI">
                <a:latin typeface="Nimbus Sans"/>
              </a:rPr>
              <a:t>Integrated reviews into the movie details page</a:t>
            </a:r>
          </a:p>
          <a:p>
            <a:r>
              <a:rPr lang="fi-FI" sz="2400">
                <a:latin typeface="Nimbus Sans"/>
              </a:rPr>
              <a:t>Helped with general frontend and backend development</a:t>
            </a:r>
          </a:p>
        </p:txBody>
      </p:sp>
    </p:spTree>
    <p:extLst>
      <p:ext uri="{BB962C8B-B14F-4D97-AF65-F5344CB8AC3E}">
        <p14:creationId xmlns:p14="http://schemas.microsoft.com/office/powerpoint/2010/main" val="4140408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-title">
            <a:extLst>
              <a:ext uri="{FF2B5EF4-FFF2-40B4-BE49-F238E27FC236}">
                <a16:creationId xmlns:a16="http://schemas.microsoft.com/office/drawing/2014/main" id="{D6D59F48-5A6E-4C20-AAAC-64F0EBF62F3E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450" b="1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3450" b="1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71717"/>
                </a:solidFill>
                <a:latin typeface="Nimbus Sans"/>
                <a:ea typeface="Nimbus Sans"/>
                <a:cs typeface="Nimbus Sans"/>
              </a:rPr>
              <a:t>Personal reflection</a:t>
            </a:r>
          </a:p>
        </p:txBody>
      </p:sp>
      <p:sp>
        <p:nvSpPr>
          <p:cNvPr id="2" name="reflection-question">
            <a:extLst>
              <a:ext uri="{FF2B5EF4-FFF2-40B4-BE49-F238E27FC236}">
                <a16:creationId xmlns:a16="http://schemas.microsoft.com/office/drawing/2014/main" id="{E8933999-7CAB-4871-8237-2E8B6721D008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2100" b="0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71717"/>
                </a:solidFill>
                <a:latin typeface="Nimbus Sans"/>
                <a:ea typeface="Nimbus Sans"/>
                <a:cs typeface="Nimbus Sans"/>
              </a:rPr>
              <a:t>Each person shares one challenge, lesson or change for next time.</a:t>
            </a:r>
          </a:p>
        </p:txBody>
      </p:sp>
      <p:graphicFrame>
        <p:nvGraphicFramePr>
          <p:cNvPr id="3" name="Taulukko 2">
            <a:extLst>
              <a:ext uri="{FF2B5EF4-FFF2-40B4-BE49-F238E27FC236}">
                <a16:creationId xmlns:a16="http://schemas.microsoft.com/office/drawing/2014/main" id="{FA2CE8CF-F2AA-448C-80BB-922BF49DB5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4439203"/>
              </p:ext>
            </p:extLst>
          </p:nvPr>
        </p:nvGraphicFramePr>
        <p:xfrm>
          <a:off x="614680" y="2000885"/>
          <a:ext cx="10820400" cy="4526084"/>
        </p:xfrm>
        <a:graphic>
          <a:graphicData uri="http://schemas.openxmlformats.org/drawingml/2006/table">
            <a:tbl>
              <a:tblPr firstRow="1"/>
              <a:tblGrid>
                <a:gridCol w="24641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6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502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2025" b="1">
                          <a:solidFill>
                            <a:srgbClr val="F7F6F2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Team member</a:t>
                      </a:r>
                    </a:p>
                  </a:txBody>
                  <a:tcPr marL="114300" marR="114300" marT="66675" marB="66675"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2025" b="1">
                          <a:solidFill>
                            <a:srgbClr val="F7F6F2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My reflection</a:t>
                      </a:r>
                    </a:p>
                  </a:txBody>
                  <a:tcPr marL="114300" marR="114300" marT="66675" marB="66675" anchor="ctr"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75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95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Niko Lindqvist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lang="en-US" sz="195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 learned a valuable lesson about project- and teamwork</a:t>
                      </a:r>
                      <a:endParaRPr sz="1950" b="0">
                        <a:solidFill>
                          <a:srgbClr val="171717"/>
                        </a:solidFill>
                        <a:latin typeface="Nimbus Sans"/>
                        <a:ea typeface="Nimbus Sans"/>
                        <a:cs typeface="Nimbus Sans"/>
                      </a:endParaRP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475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lang="fi-FI" sz="195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Tomi Koskinen</a:t>
                      </a:r>
                      <a:endParaRPr sz="1950" b="0">
                        <a:solidFill>
                          <a:srgbClr val="171717"/>
                        </a:solidFill>
                        <a:latin typeface="Nimbus Sans"/>
                        <a:ea typeface="Nimbus Sans"/>
                        <a:cs typeface="Nimbus Sans"/>
                      </a:endParaRP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20000"/>
                        </a:lnSpc>
                        <a:buNone/>
                      </a:pPr>
                      <a:r>
                        <a:rPr lang="en-US" sz="1950" b="0" i="0" u="none" strike="noStrike" noProof="0">
                          <a:solidFill>
                            <a:srgbClr val="171717"/>
                          </a:solidFill>
                        </a:rPr>
                        <a:t>Tracking down tricky bugs and handling GitHub workflows taught me patience and how to use developer tools more effectively.</a:t>
                      </a:r>
                      <a:endParaRPr/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475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lang="en-US" sz="195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Ville </a:t>
                      </a:r>
                      <a:r>
                        <a:rPr lang="en-US" sz="1950" b="0" err="1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Korkeaniemi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lang="en-US" sz="195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 learned that roles are more important than I previously thought. Also, how complicated simple-looking website could be.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475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lang="fi-FI" sz="195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Milja Tissari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lang="fi-FI" sz="180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This project helped me understand how much planning and cooperation are needed to build a working web application.</a:t>
                      </a:r>
                      <a:endParaRPr sz="1800" b="0">
                        <a:solidFill>
                          <a:srgbClr val="171717"/>
                        </a:solidFill>
                        <a:latin typeface="Nimbus Sans"/>
                        <a:ea typeface="Nimbus Sans"/>
                        <a:cs typeface="Nimbus Sans"/>
                      </a:endParaRP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4756">
                <a:tc>
                  <a:txBody>
                    <a:bodyPr/>
                    <a:lstStyle/>
                    <a:p>
                      <a:pPr lvl="0">
                        <a:lnSpc>
                          <a:spcPct val="120000"/>
                        </a:lnSpc>
                        <a:buNone/>
                      </a:pPr>
                      <a:r>
                        <a:rPr lang="en-US" sz="195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Toni Palmén</a:t>
                      </a:r>
                    </a:p>
                  </a:txBody>
                  <a:tcPr marL="114300" marR="114300" marT="66674" marB="666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20000"/>
                        </a:lnSpc>
                        <a:buNone/>
                      </a:pPr>
                      <a:r>
                        <a:rPr lang="en-US" sz="195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 learned about how important it is to plan, divide work and keep a clear structure in these kinds of projects.</a:t>
                      </a:r>
                    </a:p>
                  </a:txBody>
                  <a:tcPr marL="114300" marR="114300" marT="66674" marB="6667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235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8256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title">
            <a:extLst>
              <a:ext uri="{FF2B5EF4-FFF2-40B4-BE49-F238E27FC236}">
                <a16:creationId xmlns:a16="http://schemas.microsoft.com/office/drawing/2014/main" id="{59D5903B-145A-4CFB-ACF3-F3E56D4E61B5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450" b="1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3450" b="1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71717"/>
                </a:solidFill>
                <a:latin typeface="Nimbus Sans"/>
                <a:ea typeface="Nimbus Sans"/>
                <a:cs typeface="Nimbus Sans"/>
              </a:rPr>
              <a:t>Next time: clearer responsibilities</a:t>
            </a:r>
          </a:p>
        </p:txBody>
      </p:sp>
      <p:sp>
        <p:nvSpPr>
          <p:cNvPr id="2" name="next-time-main-point">
            <a:extLst>
              <a:ext uri="{FF2B5EF4-FFF2-40B4-BE49-F238E27FC236}">
                <a16:creationId xmlns:a16="http://schemas.microsoft.com/office/drawing/2014/main" id="{612CA2AB-4561-4BE1-82C5-1695D5128B9E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108204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0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2250" b="0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171717"/>
                </a:solidFill>
                <a:latin typeface="Nimbus Sans"/>
                <a:ea typeface="Nimbus Sans"/>
                <a:cs typeface="Nimbus Sans"/>
              </a:rPr>
              <a:t>We would decide who focuses on the frontend and who handles the backend.</a:t>
            </a:r>
          </a:p>
        </p:txBody>
      </p:sp>
      <p:graphicFrame>
        <p:nvGraphicFramePr>
          <p:cNvPr id="3" name="Taulukko 2">
            <a:extLst>
              <a:ext uri="{FF2B5EF4-FFF2-40B4-BE49-F238E27FC236}">
                <a16:creationId xmlns:a16="http://schemas.microsoft.com/office/drawing/2014/main" id="{5722311B-AB4F-470F-BEFF-ECF8A43621C3}"/>
              </a:ext>
            </a:extLst>
          </p:cNvPr>
          <p:cNvGraphicFramePr/>
          <p:nvPr/>
        </p:nvGraphicFramePr>
        <p:xfrm>
          <a:off x="685800" y="2695575"/>
          <a:ext cx="10820400" cy="1866900"/>
        </p:xfrm>
        <a:graphic>
          <a:graphicData uri="http://schemas.openxmlformats.org/drawingml/2006/table">
            <a:tbl>
              <a:tblPr firstRow="1"/>
              <a:tblGrid>
                <a:gridCol w="541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2175" b="1">
                          <a:solidFill>
                            <a:srgbClr val="F7F6F2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Frontend</a:t>
                      </a:r>
                    </a:p>
                  </a:txBody>
                  <a:tcPr marL="114300" marR="114300" marT="66675" marB="66675"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2175" b="1">
                          <a:solidFill>
                            <a:srgbClr val="F7F6F2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Backend</a:t>
                      </a:r>
                    </a:p>
                  </a:txBody>
                  <a:tcPr marL="114300" marR="114300" marT="66675" marB="66675" anchor="ctr"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87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210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React pages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210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Forms, CSS and the user experience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210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API routes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2100" b="0">
                          <a:solidFill>
                            <a:srgbClr val="17171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Database and input validation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coordination">
            <a:extLst>
              <a:ext uri="{FF2B5EF4-FFF2-40B4-BE49-F238E27FC236}">
                <a16:creationId xmlns:a16="http://schemas.microsoft.com/office/drawing/2014/main" id="{C8FEA34C-1764-40E9-B860-BB8FABF3727D}"/>
              </a:ext>
            </a:extLst>
          </p:cNvPr>
          <p:cNvSpPr>
            <a:spLocks noGrp="1"/>
          </p:cNvSpPr>
          <p:nvPr/>
        </p:nvSpPr>
        <p:spPr>
          <a:xfrm>
            <a:off x="685800" y="5019675"/>
            <a:ext cx="10820400" cy="1371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0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marL="292100" indent="-139700">
              <a:spcAft>
                <a:spcPts val="1600"/>
              </a:spcAft>
              <a:buChar char="•"/>
              <a:defRPr sz="2175" b="0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71717"/>
                </a:solidFill>
                <a:latin typeface="Nimbus Sans"/>
                <a:ea typeface="Nimbus Sans"/>
                <a:cs typeface="Nimbus Sans"/>
              </a:rPr>
              <a:t>Agree on API requests and responses before coding</a:t>
            </a:r>
          </a:p>
          <a:p>
            <a:pPr marL="292100" indent="-139700">
              <a:spcAft>
                <a:spcPts val="1600"/>
              </a:spcAft>
              <a:buChar char="•"/>
              <a:defRPr sz="2175" b="0">
                <a:solidFill>
                  <a:srgbClr val="17171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71717"/>
                </a:solidFill>
                <a:latin typeface="Nimbus Sans"/>
                <a:ea typeface="Nimbus Sans"/>
                <a:cs typeface="Nimbus Sans"/>
              </a:rPr>
              <a:t>Merge and test smaller changes regularly</a:t>
            </a:r>
          </a:p>
        </p:txBody>
      </p:sp>
    </p:spTree>
    <p:extLst>
      <p:ext uri="{BB962C8B-B14F-4D97-AF65-F5344CB8AC3E}">
        <p14:creationId xmlns:p14="http://schemas.microsoft.com/office/powerpoint/2010/main" val="1607165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-title">
            <a:extLst>
              <a:ext uri="{FF2B5EF4-FFF2-40B4-BE49-F238E27FC236}">
                <a16:creationId xmlns:a16="http://schemas.microsoft.com/office/drawing/2014/main" id="{025CB387-BA54-4EB0-A44E-0546BB5438E5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450" b="1">
                <a:solidFill>
                  <a:srgbClr val="F7F6F2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3450" b="1">
                <a:solidFill>
                  <a:srgbClr val="F7F6F2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F7F6F2"/>
                </a:solidFill>
                <a:latin typeface="Nimbus Sans"/>
                <a:ea typeface="Nimbus Sans"/>
                <a:cs typeface="Nimbus Sans"/>
              </a:rPr>
              <a:t>Conclusion</a:t>
            </a:r>
          </a:p>
        </p:txBody>
      </p:sp>
      <p:sp>
        <p:nvSpPr>
          <p:cNvPr id="2" name="conclusion-main-points">
            <a:extLst>
              <a:ext uri="{FF2B5EF4-FFF2-40B4-BE49-F238E27FC236}">
                <a16:creationId xmlns:a16="http://schemas.microsoft.com/office/drawing/2014/main" id="{B16A4472-A68B-4B4F-A1A2-A6A0EAABAFB1}"/>
              </a:ext>
            </a:extLst>
          </p:cNvPr>
          <p:cNvSpPr>
            <a:spLocks noGrp="1"/>
          </p:cNvSpPr>
          <p:nvPr/>
        </p:nvSpPr>
        <p:spPr>
          <a:xfrm>
            <a:off x="685800" y="2009775"/>
            <a:ext cx="10820400" cy="2638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75" b="0">
                <a:solidFill>
                  <a:srgbClr val="F7F6F2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 marL="292100" indent="-139700">
              <a:spcAft>
                <a:spcPts val="2300"/>
              </a:spcAft>
              <a:buChar char="•"/>
              <a:defRPr sz="2475" b="0">
                <a:solidFill>
                  <a:srgbClr val="F7F6F2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F7F6F2"/>
                </a:solidFill>
                <a:latin typeface="Nimbus Sans"/>
                <a:ea typeface="Nimbus Sans"/>
                <a:cs typeface="Nimbus Sans"/>
              </a:rPr>
              <a:t>We built on the existing React and Node project.</a:t>
            </a:r>
          </a:p>
          <a:p>
            <a:pPr marL="292100" indent="-139700">
              <a:spcAft>
                <a:spcPts val="2300"/>
              </a:spcAft>
              <a:buChar char="•"/>
              <a:defRPr sz="2475" b="0">
                <a:solidFill>
                  <a:srgbClr val="F7F6F2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F7F6F2"/>
                </a:solidFill>
                <a:latin typeface="Nimbus Sans"/>
                <a:ea typeface="Nimbus Sans"/>
                <a:cs typeface="Nimbus Sans"/>
              </a:rPr>
              <a:t>Each member contributed to the application.</a:t>
            </a:r>
          </a:p>
        </p:txBody>
      </p:sp>
      <p:sp>
        <p:nvSpPr>
          <p:cNvPr id="3" name="questions">
            <a:extLst>
              <a:ext uri="{FF2B5EF4-FFF2-40B4-BE49-F238E27FC236}">
                <a16:creationId xmlns:a16="http://schemas.microsoft.com/office/drawing/2014/main" id="{FAB58704-5C58-4E37-B54C-E5506B74D87B}"/>
              </a:ext>
            </a:extLst>
          </p:cNvPr>
          <p:cNvSpPr>
            <a:spLocks noGrp="1"/>
          </p:cNvSpPr>
          <p:nvPr/>
        </p:nvSpPr>
        <p:spPr>
          <a:xfrm>
            <a:off x="685800" y="5514975"/>
            <a:ext cx="10820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550" b="0">
                <a:solidFill>
                  <a:srgbClr val="F7F6F2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2550" b="0">
                <a:solidFill>
                  <a:srgbClr val="F7F6F2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>
                <a:solidFill>
                  <a:srgbClr val="F7F6F2"/>
                </a:solidFill>
                <a:latin typeface="Nimbus Sans"/>
                <a:ea typeface="Nimbus Sans"/>
                <a:cs typeface="Nimbus Sans"/>
              </a:rPr>
              <a:t>Thank you. </a:t>
            </a:r>
          </a:p>
        </p:txBody>
      </p:sp>
    </p:spTree>
    <p:extLst>
      <p:ext uri="{BB962C8B-B14F-4D97-AF65-F5344CB8AC3E}">
        <p14:creationId xmlns:p14="http://schemas.microsoft.com/office/powerpoint/2010/main" val="170126111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93abf8a-cbc4-47b0-8105-49243785b2d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464CCBF8A0FB408F318F46CFD1F6E6" ma:contentTypeVersion="10" ma:contentTypeDescription="Create a new document." ma:contentTypeScope="" ma:versionID="3c5dd9ca0ae135c31765db51f9fdd4b5">
  <xsd:schema xmlns:xsd="http://www.w3.org/2001/XMLSchema" xmlns:xs="http://www.w3.org/2001/XMLSchema" xmlns:p="http://schemas.microsoft.com/office/2006/metadata/properties" xmlns:ns3="793abf8a-cbc4-47b0-8105-49243785b2de" targetNamespace="http://schemas.microsoft.com/office/2006/metadata/properties" ma:root="true" ma:fieldsID="a57916bdf451981c2ff10b9aaf591427" ns3:_="">
    <xsd:import namespace="793abf8a-cbc4-47b0-8105-49243785b2d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3abf8a-cbc4-47b0-8105-49243785b2d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E1D01F-2965-486C-9A94-BFAE4A1122D1}">
  <ds:schemaRefs>
    <ds:schemaRef ds:uri="793abf8a-cbc4-47b0-8105-49243785b2d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1F56080-2412-4F38-9559-875D528864F5}">
  <ds:schemaRefs>
    <ds:schemaRef ds:uri="793abf8a-cbc4-47b0-8105-49243785b2d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71514CC-A354-4E2B-A308-4572ACF2D4A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9f9ce49a-5101-4aa3-8c75-0d5935ad6525}" enabled="0" method="" siteId="{9f9ce49a-5101-4aa3-8c75-0d5935ad652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Laajakuva</PresentationFormat>
  <Slides>13</Slides>
  <Notes>0</Notes>
  <HiddenSlides>0</HiddenSlides>
  <ScaleCrop>false</ScaleCrop>
  <HeadingPairs>
    <vt:vector size="4" baseType="variant">
      <vt:variant>
        <vt:lpstr>Teema</vt:lpstr>
      </vt:variant>
      <vt:variant>
        <vt:i4>1</vt:i4>
      </vt:variant>
      <vt:variant>
        <vt:lpstr>Dian otsikot</vt:lpstr>
      </vt:variant>
      <vt:variant>
        <vt:i4>13</vt:i4>
      </vt:variant>
    </vt:vector>
  </HeadingPairs>
  <TitlesOfParts>
    <vt:vector size="14" baseType="lpstr">
      <vt:lpstr>ChatGPT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Ville´s contribution</vt:lpstr>
      <vt:lpstr>PowerPoint-esitys</vt:lpstr>
      <vt:lpstr>PowerPoint-esitys</vt:lpstr>
      <vt:lpstr>Milja's contribution</vt:lpstr>
      <vt:lpstr>PowerPoint-esitys</vt:lpstr>
      <vt:lpstr>PowerPoint-esitys</vt:lpstr>
      <vt:lpstr>PowerPoint-esitys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revision>131</cp:revision>
  <dcterms:created xsi:type="dcterms:W3CDTF">2026-10-12T14:33:30Z</dcterms:created>
  <dcterms:modified xsi:type="dcterms:W3CDTF">2026-10-14T17:43:24Z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0x010100E7464CCBF8A0FB408F318F46CFD1F6E6</vt:lpwstr>
  </property>
</Properties>
</file>